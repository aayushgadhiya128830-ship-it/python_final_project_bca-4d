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114840" y="115200"/>
            <a:ext cx="8914320" cy="491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713160" y="1420560"/>
            <a:ext cx="6509520" cy="3183120"/>
          </a:xfrm>
          <a:prstGeom prst="rect">
            <a:avLst/>
          </a:prstGeom>
          <a:noFill/>
          <a:ln w="0">
            <a:noFill/>
          </a:ln>
          <a:effectLst>
            <a:outerShdw dist="0" dir="0" blurRad="71280" rotWithShape="0">
              <a:srgbClr val="000000">
                <a:alpha val="4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057680"/>
            <a:ext cx="6575760" cy="171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2402280" cy="126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3488400" y="444960"/>
            <a:ext cx="920160" cy="98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3488400" y="1500480"/>
            <a:ext cx="920160" cy="98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3488400" y="2556000"/>
            <a:ext cx="920160" cy="98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3488400" y="3611160"/>
            <a:ext cx="920160" cy="98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body"/>
          </p:nvPr>
        </p:nvSpPr>
        <p:spPr>
          <a:xfrm>
            <a:off x="115200" y="115200"/>
            <a:ext cx="3167640" cy="49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847960" y="2786760"/>
            <a:ext cx="5816880" cy="18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97880" y="444960"/>
            <a:ext cx="4370760" cy="12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432760" y="115200"/>
            <a:ext cx="3596040" cy="491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99360" y="444960"/>
            <a:ext cx="4122720" cy="10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15200" y="539640"/>
            <a:ext cx="4248720" cy="448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1305720" y="1490400"/>
            <a:ext cx="920160" cy="105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title"/>
          </p:nvPr>
        </p:nvSpPr>
        <p:spPr>
          <a:xfrm>
            <a:off x="1305720" y="3133440"/>
            <a:ext cx="920160" cy="105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title"/>
          </p:nvPr>
        </p:nvSpPr>
        <p:spPr>
          <a:xfrm>
            <a:off x="4939560" y="1490400"/>
            <a:ext cx="920160" cy="105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title"/>
          </p:nvPr>
        </p:nvSpPr>
        <p:spPr>
          <a:xfrm>
            <a:off x="4939560" y="3133440"/>
            <a:ext cx="920160" cy="105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97880" y="371880"/>
            <a:ext cx="81482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26360" y="444960"/>
            <a:ext cx="4057560" cy="14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97880" y="539640"/>
            <a:ext cx="466056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;p20"/>
          <p:cNvSpPr/>
          <p:nvPr/>
        </p:nvSpPr>
        <p:spPr>
          <a:xfrm>
            <a:off x="5432040" y="3583800"/>
            <a:ext cx="3213720" cy="8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CREDITS:</a:t>
            </a:r>
            <a:r>
              <a:rPr b="0" lang="en" sz="12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 This presentation template was created by </a:t>
            </a:r>
            <a:r>
              <a:rPr b="1" lang="en" sz="1200" strike="noStrike" u="sng">
                <a:solidFill>
                  <a:schemeClr val="dk2"/>
                </a:solidFill>
                <a:effectLst/>
                <a:uFillTx/>
                <a:latin typeface="Manjari"/>
                <a:ea typeface="Manjari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, and includes icons, infographics &amp; images by </a:t>
            </a:r>
            <a:r>
              <a:rPr b="1" lang="en" sz="1200" strike="noStrike" u="sng">
                <a:solidFill>
                  <a:schemeClr val="dk2"/>
                </a:solidFill>
                <a:effectLst/>
                <a:uFillTx/>
                <a:latin typeface="Manjari"/>
                <a:ea typeface="Manjari"/>
                <a:hlinkClick r:id="rId3"/>
              </a:rPr>
              <a:t>Freepik</a:t>
            </a:r>
            <a:r>
              <a:rPr b="0" lang="en" sz="12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115200" y="115200"/>
            <a:ext cx="8913600" cy="491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6249240" cy="2279880"/>
          </a:xfrm>
          <a:prstGeom prst="rect">
            <a:avLst/>
          </a:prstGeom>
          <a:noFill/>
          <a:ln w="0">
            <a:noFill/>
          </a:ln>
          <a:effectLst>
            <a:outerShdw dist="0" dir="0" blurRad="71280" rotWithShape="0">
              <a:srgbClr val="000000">
                <a:alpha val="40000"/>
              </a:srgbClr>
            </a:outerShdw>
          </a:effectLst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6778800" y="539640"/>
            <a:ext cx="1651680" cy="1435320"/>
          </a:xfrm>
          <a:prstGeom prst="rect">
            <a:avLst/>
          </a:prstGeom>
          <a:noFill/>
          <a:ln w="0">
            <a:noFill/>
          </a:ln>
          <a:effectLst>
            <a:outerShdw dist="0" dir="0" blurRad="71280" rotWithShape="0">
              <a:srgbClr val="000000">
                <a:alpha val="40000"/>
              </a:srgbClr>
            </a:outerShdw>
          </a:effectLst>
        </p:spPr>
        <p:txBody>
          <a:bodyPr lIns="91440" rIns="91440" tIns="91440" bIns="91440" anchor="t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8000" strike="noStrike" u="none">
                <a:solidFill>
                  <a:schemeClr val="dk1"/>
                </a:solidFill>
                <a:effectLst/>
                <a:uFillTx/>
                <a:latin typeface="Ysabeau Office"/>
                <a:ea typeface="Ysabeau Office"/>
              </a:rPr>
              <a:t>xx%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97880" y="444960"/>
            <a:ext cx="81482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15200" y="2819880"/>
            <a:ext cx="8914320" cy="220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91480" y="444960"/>
            <a:ext cx="2925360" cy="14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175720" y="1336320"/>
            <a:ext cx="3255120" cy="298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135520" y="1655640"/>
            <a:ext cx="487260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08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  <p:sldLayoutId id="2147483672" r:id="rId3"/>
    <p:sldLayoutId id="214748367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5;p27" title="view-building-architecture-london-city.jpg"/>
          <p:cNvSpPr/>
          <p:nvPr/>
        </p:nvSpPr>
        <p:spPr>
          <a:xfrm>
            <a:off x="114840" y="115200"/>
            <a:ext cx="8914320" cy="4912920"/>
          </a:xfrm>
          <a:prstGeom prst="roundRect">
            <a:avLst>
              <a:gd name="adj" fmla="val 6183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Google Shape;116;p27"/>
          <p:cNvSpPr/>
          <p:nvPr/>
        </p:nvSpPr>
        <p:spPr>
          <a:xfrm>
            <a:off x="0" y="0"/>
            <a:ext cx="9143640" cy="542520"/>
          </a:xfrm>
          <a:prstGeom prst="rect">
            <a:avLst/>
          </a:prstGeom>
          <a:solidFill>
            <a:srgbClr val="f8f8f8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271440" bIns="27144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Google Shape;117;p27"/>
          <p:cNvGrpSpPr/>
          <p:nvPr/>
        </p:nvGrpSpPr>
        <p:grpSpPr>
          <a:xfrm>
            <a:off x="855720" y="134280"/>
            <a:ext cx="866880" cy="376920"/>
            <a:chOff x="855720" y="134280"/>
            <a:chExt cx="866880" cy="376920"/>
          </a:xfrm>
        </p:grpSpPr>
        <p:sp>
          <p:nvSpPr>
            <p:cNvPr id="49" name="Google Shape;118;p27"/>
            <p:cNvSpPr/>
            <p:nvPr/>
          </p:nvSpPr>
          <p:spPr>
            <a:xfrm>
              <a:off x="855720" y="134280"/>
              <a:ext cx="86688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119;p27"/>
            <p:cNvSpPr/>
            <p:nvPr/>
          </p:nvSpPr>
          <p:spPr>
            <a:xfrm>
              <a:off x="855720" y="144000"/>
              <a:ext cx="866880" cy="367200"/>
            </a:xfrm>
            <a:prstGeom prst="rect">
              <a:avLst/>
            </a:prstGeom>
            <a:noFill/>
            <a:ln w="0">
              <a:noFill/>
            </a:ln>
            <a:effectLst>
              <a:outerShdw algn="bl" blurRad="71280" rotWithShape="0">
                <a:srgbClr val="000000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800" strike="noStrike" u="none">
                  <a:solidFill>
                    <a:schemeClr val="dk1"/>
                  </a:solidFill>
                  <a:effectLst/>
                  <a:uFillTx/>
                  <a:latin typeface="Manjari"/>
                  <a:ea typeface="Manjari"/>
                </a:rPr>
                <a:t>20XX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714240" y="600120"/>
            <a:ext cx="7714800" cy="475920"/>
          </a:xfrm>
          <a:prstGeom prst="rect">
            <a:avLst/>
          </a:prstGeom>
          <a:noFill/>
          <a:ln w="0">
            <a:noFill/>
          </a:ln>
          <a:effectLst>
            <a:outerShdw dist="0" dir="0" blurRad="71280" rotWithShape="0">
              <a:srgbClr val="000000">
                <a:alpha val="40000"/>
              </a:srgbClr>
            </a:outerShdw>
          </a:effectLst>
        </p:spPr>
        <p:txBody>
          <a:bodyPr lIns="91440" rIns="91440" tIns="91440" bIns="91440" anchor="t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anjari"/>
                <a:ea typeface="Manjari"/>
              </a:rPr>
              <a:t>Python Flask backend with SQLite persistence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52" name="Google Shape;121;p27"/>
          <p:cNvCxnSpPr/>
          <p:nvPr/>
        </p:nvCxnSpPr>
        <p:spPr>
          <a:xfrm>
            <a:off x="40680" y="1144800"/>
            <a:ext cx="9081000" cy="360"/>
          </a:xfrm>
          <a:prstGeom prst="straightConnector1">
            <a:avLst/>
          </a:prstGeom>
          <a:ln w="9525">
            <a:solidFill>
              <a:srgbClr val="faf7f6"/>
            </a:solidFill>
            <a:round/>
          </a:ln>
        </p:spPr>
      </p:cxn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714240" y="1419120"/>
            <a:ext cx="6505200" cy="3180960"/>
          </a:xfrm>
          <a:prstGeom prst="rect">
            <a:avLst/>
          </a:prstGeom>
          <a:noFill/>
          <a:ln w="0">
            <a:noFill/>
          </a:ln>
          <a:effectLst>
            <a:outerShdw dist="0" dir="0" blurRad="71280" rotWithShape="0">
              <a:srgbClr val="000000">
                <a:alpha val="40000"/>
              </a:srgbClr>
            </a:outerShdw>
          </a:effectLst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0" strike="noStrike" u="none">
                <a:solidFill>
                  <a:schemeClr val="dk1"/>
                </a:solidFill>
                <a:effectLst/>
                <a:uFillTx/>
                <a:latin typeface="Ysabeau Office"/>
                <a:ea typeface="Ysabeau Office"/>
              </a:rPr>
              <a:t>Notes App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47960" y="2790720"/>
            <a:ext cx="5819400" cy="18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Introduction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95360" y="542880"/>
            <a:ext cx="762912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This presentation outlines a concise backend plan for an </a:t>
            </a:r>
            <a:r>
              <a:rPr b="0" i="1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online notes application</a:t>
            </a: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 built with Python, Flask, and SQLite.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Focus on simple RESTful endpoints, secure user handling, and reliable local persistence for fast prototyping and deployment.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Ysabeau Office"/>
              </a:rPr>
              <a:t>Backend Design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8" name="image69d8f5ead6424" descr="image69d8f5ead6429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Ysabeau Office"/>
              </a:rPr>
              <a:t>Flask routes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Implement RESTful endpoints: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/auth/login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,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/auth/register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,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/notes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 (GET, POST),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/notes/id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 (GET, PUT, DELETE).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Use JSON requests/responses, input validation, and consistent error codes. Protect routes with session or token-based auth.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1" name="image69d8f5eae106a" descr="image69d8f5eae106f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Ysabeau Office"/>
              </a:rPr>
              <a:t>Database schema (SQLite)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Create tables: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users(id, email, password_hash)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,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notes(id, user_id, title, body, tags, updated_at)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, and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tags(id, name)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 with join table for many-to-many.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Add indexes on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user_id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 and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updated_at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 for fast queries and simple migration strategy.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847960" y="2790720"/>
            <a:ext cx="5819400" cy="18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Authentication &amp; authorization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495360" y="542880"/>
            <a:ext cx="762912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Use </a:t>
            </a:r>
            <a:r>
              <a:rPr b="1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token-based auth (JWT)</a:t>
            </a: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 or secure sessions with hashed passwords and salted storage.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Enforce route protection, input validation, and role checks for sensitive actions.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Implement rate limiting and optional 2FA for improved security and account recovery.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Ysabeau Office"/>
              </a:rPr>
              <a:t>User Features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8" name="image69d8f5eaebddd" descr="image69d8f5eaebde2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Ysabeau Office"/>
              </a:rPr>
              <a:t>Notes CRUD operations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Provide REST endpoints for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create, read, update, delete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 notes with JSON payloads.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Ensure ownership checks, optimistic concurrency (updated_at), and lightweight validation.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847960" y="2790720"/>
            <a:ext cx="5819400" cy="18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Search, tags, filtering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495360" y="542880"/>
            <a:ext cx="762912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Support full-text search on title/body and tag-based filtering.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Use normalized tags or a join table; index searchable fields for performance.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Ysabeau Office"/>
              </a:rPr>
              <a:t>Sync, export, backups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Offer JSON export/import and periodic SQLite backups for disaster recovery.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Manjari"/>
              </a:rPr>
              <a:t>Design simple sync by tracking last_modified per note and resolving conflicts by timestamp.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5" name="image69d8f5eb0282e" descr="image69d8f5eb02833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847960" y="2790720"/>
            <a:ext cx="5819400" cy="18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Conclusions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495360" y="542880"/>
            <a:ext cx="762912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Keep backend minimal, secure, and testable for fast iteration.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Focus on </a:t>
            </a:r>
            <a:r>
              <a:rPr b="1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clear APIs</a:t>
            </a:r>
            <a:r>
              <a:rPr b="0" lang="en-US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, reliable persistence, and simple user protections to enable future growth.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ubTitle"/>
          </p:nvPr>
        </p:nvSpPr>
        <p:spPr>
          <a:xfrm>
            <a:off x="495360" y="1600200"/>
            <a:ext cx="46573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youremail@freepik.com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+00 000 000 000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2"/>
                </a:solidFill>
                <a:effectLst/>
                <a:uFillTx/>
                <a:latin typeface="Manjari"/>
                <a:ea typeface="Manjari"/>
              </a:rPr>
              <a:t>yourwebsite.com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338;p40"/>
          <p:cNvSpPr/>
          <p:nvPr/>
        </p:nvSpPr>
        <p:spPr>
          <a:xfrm>
            <a:off x="5353200" y="4343400"/>
            <a:ext cx="3209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Google Shape;339;p40"/>
          <p:cNvSpPr/>
          <p:nvPr/>
        </p:nvSpPr>
        <p:spPr>
          <a:xfrm>
            <a:off x="7318800" y="3132360"/>
            <a:ext cx="345240" cy="345600"/>
          </a:xfrm>
          <a:custGeom>
            <a:avLst/>
            <a:gdLst>
              <a:gd name="textAreaLeft" fmla="*/ 0 w 345240"/>
              <a:gd name="textAreaRight" fmla="*/ 345600 w 3452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1" name="Google Shape;340;p40"/>
          <p:cNvGrpSpPr/>
          <p:nvPr/>
        </p:nvGrpSpPr>
        <p:grpSpPr>
          <a:xfrm>
            <a:off x="7809480" y="3132720"/>
            <a:ext cx="345600" cy="345240"/>
            <a:chOff x="7809480" y="3132720"/>
            <a:chExt cx="345600" cy="345240"/>
          </a:xfrm>
        </p:grpSpPr>
        <p:sp>
          <p:nvSpPr>
            <p:cNvPr id="82" name="Google Shape;341;p40"/>
            <p:cNvSpPr/>
            <p:nvPr/>
          </p:nvSpPr>
          <p:spPr>
            <a:xfrm>
              <a:off x="7809480" y="31327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342;p40"/>
            <p:cNvSpPr/>
            <p:nvPr/>
          </p:nvSpPr>
          <p:spPr>
            <a:xfrm>
              <a:off x="7874280" y="3197880"/>
              <a:ext cx="214920" cy="2149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343;p40"/>
            <p:cNvSpPr/>
            <p:nvPr/>
          </p:nvSpPr>
          <p:spPr>
            <a:xfrm>
              <a:off x="7924320" y="3249000"/>
              <a:ext cx="114480" cy="1123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344;p40"/>
            <p:cNvSpPr/>
            <p:nvPr/>
          </p:nvSpPr>
          <p:spPr>
            <a:xfrm>
              <a:off x="8025480" y="3225600"/>
              <a:ext cx="29160" cy="288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" name="Google Shape;345;p40"/>
          <p:cNvGrpSpPr/>
          <p:nvPr/>
        </p:nvGrpSpPr>
        <p:grpSpPr>
          <a:xfrm>
            <a:off x="8300160" y="3132720"/>
            <a:ext cx="345600" cy="345240"/>
            <a:chOff x="8300160" y="3132720"/>
            <a:chExt cx="345600" cy="345240"/>
          </a:xfrm>
        </p:grpSpPr>
        <p:sp>
          <p:nvSpPr>
            <p:cNvPr id="87" name="Google Shape;346;p40"/>
            <p:cNvSpPr/>
            <p:nvPr/>
          </p:nvSpPr>
          <p:spPr>
            <a:xfrm>
              <a:off x="8300160" y="31327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347;p40"/>
            <p:cNvSpPr/>
            <p:nvPr/>
          </p:nvSpPr>
          <p:spPr>
            <a:xfrm>
              <a:off x="8379720" y="3270960"/>
              <a:ext cx="47520" cy="120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348;p40"/>
            <p:cNvSpPr/>
            <p:nvPr/>
          </p:nvSpPr>
          <p:spPr>
            <a:xfrm>
              <a:off x="8372520" y="32054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349;p40"/>
            <p:cNvSpPr/>
            <p:nvPr/>
          </p:nvSpPr>
          <p:spPr>
            <a:xfrm>
              <a:off x="8452440" y="3270960"/>
              <a:ext cx="127800" cy="1202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495360" y="-259560"/>
            <a:ext cx="4657320" cy="185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500" strike="noStrike" u="none">
                <a:solidFill>
                  <a:schemeClr val="dk2"/>
                </a:solidFill>
                <a:effectLst/>
                <a:uFillTx/>
                <a:latin typeface="Ysabeau Office"/>
                <a:ea typeface="Ysabeau Office"/>
              </a:rPr>
              <a:t>Thank you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rnational Organizations Overview by Slidesgo">
  <a:themeElements>
    <a:clrScheme name="Simple Light">
      <a:dk1>
        <a:srgbClr val="fcfcfc"/>
      </a:dk1>
      <a:lt1>
        <a:srgbClr val="faf7f6"/>
      </a:lt1>
      <a:dk2>
        <a:srgbClr val="191919"/>
      </a:dk2>
      <a:lt2>
        <a:srgbClr val="6d6d6d"/>
      </a:lt2>
      <a:accent1>
        <a:srgbClr val="e2e2e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2026-04-10T13:06:48Z</dcterms:created>
  <dc:creator>Unknown Creator</dc:creator>
  <dc:description/>
  <dc:language>en-US</dc:language>
  <cp:lastModifiedBy>Unknown Creator</cp:lastModifiedBy>
  <dcterms:modified xsi:type="dcterms:W3CDTF">2026-04-10T13:06:48Z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